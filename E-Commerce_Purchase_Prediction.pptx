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slides/slide1.xml" ContentType="application/vnd.openxmlformats-officedocument.presentationml.slide+xml"/>
  <Override PartName="/ppt/slides/_rels/slide9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_rels/notesSlide9.xml.rels" ContentType="application/vnd.openxmlformats-package.relationships+xml"/>
  <Override PartName="/ppt/notesSlides/_rels/notesSlide8.xml.rels" ContentType="application/vnd.openxmlformats-package.relationships+xml"/>
  <Override PartName="/ppt/notesSlides/_rels/notesSlide7.xml.rels" ContentType="application/vnd.openxmlformats-package.relationships+xml"/>
  <Override PartName="/ppt/notesSlides/_rels/notesSlide6.xml.rels" ContentType="application/vnd.openxmlformats-package.relationships+xml"/>
  <Override PartName="/ppt/notesSlides/_rels/notesSlide5.xml.rels" ContentType="application/vnd.openxmlformats-package.relationships+xml"/>
  <Override PartName="/ppt/notesSlides/_rels/notesSlide4.xml.rels" ContentType="application/vnd.openxmlformats-package.relationships+xml"/>
  <Override PartName="/ppt/notesSlides/_rels/notesSlide3.xml.rels" ContentType="application/vnd.openxmlformats-package.relationships+xml"/>
  <Override PartName="/ppt/notesSlides/_rels/notesSlide2.xml.rels" ContentType="application/vnd.openxmlformats-package.relationships+xml"/>
  <Override PartName="/ppt/notesSlides/_rels/notesSlide1.xml.rels" ContentType="application/vnd.openxmlformats-package.relationships+xml"/>
  <Override PartName="/ppt/notesSlides/notesSlide9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Click to move the slide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Click to edit the notes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format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&lt;header&gt;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1E701116-FCB7-4880-A8EA-A2484B4AFE32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4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Introduce the project: a regression model estimating how much a customer spends on a given e-commerce order, built end to end from a deliberately messy raw dataset.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63C057E-997F-472D-8800-18ADF8816E00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4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Frame this as the retailer's problem, not an academic exercise. Accurate spend prediction feeds discount strategy and logistics forecasting directly.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612D79E-53E2-49BF-83EF-9BE310162F48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4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5,055 rows, 12 columns. The dataset was supplied intentionally dirty, so cleaning decisions are a graded part of the work rather than a preamble to it.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EE90BCA-4F13-41C6-B6B6-EE72DFDEA254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4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This is the slide that separates this from a textbook exercise. Sixteen spellings of four payment methods and a percent sign hiding inside a numeric column are the kind of thing only hands-on work surfaces.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0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9C1CB14-ECCB-4D65-8DAA-8F2ECC800538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5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Mean sits well above median — the classic right-skew signature. A handful of very large orders stretch the tail to 5,349 while the typical order is under 100.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3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5ADF706-93AB-474A-8368-0A7A2D8CAE4A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5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No single feature shows a strong linear correlation with the target. That matters later: it foreshadows why a linear model underperforms here.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6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EF092A3-8666-4C14-BE6F-BF015277BB22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5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Ordinal versus nominal is the key distinction: loyalty_segment is label-encoded because New to Loyal has a real order; payment method and category are one-hot encoded because they do not.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9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2A7DAE5-ED26-4F55-9C53-F7DD568048D9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6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Be precise in the room: R2 and RMSE are a virtual tie, within noise of each other. The real, defensible edge for Random Forest is the lower MAE — about 11% lower average error on a typical prediction.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2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17FDD4C-9B97-4FD6-BFA5-3533E4D8F5FE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6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Close by being precise about what the tuned model earns you: MAE is the metric that genuinely favours Random Forest, R2 and RMSE are a virtual tie. Then leave the room with concrete next steps for both models, not just the winner.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5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5D83172-21E2-4886-9D50-1AFEC645F2A0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Click to edit the title text format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2b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0"/>
          <p:cNvSpPr/>
          <p:nvPr/>
        </p:nvSpPr>
        <p:spPr>
          <a:xfrm>
            <a:off x="9235440" y="-1371600"/>
            <a:ext cx="4754520" cy="4754520"/>
          </a:xfrm>
          <a:prstGeom prst="ellipse">
            <a:avLst/>
          </a:prstGeom>
          <a:solidFill>
            <a:srgbClr val="0f766e">
              <a:alpha val="28000"/>
            </a:srgbClr>
          </a:solidFill>
          <a:ln w="12700">
            <a:solidFill>
              <a:srgbClr val="0f766e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" name="Shape 1"/>
          <p:cNvSpPr/>
          <p:nvPr/>
        </p:nvSpPr>
        <p:spPr>
          <a:xfrm>
            <a:off x="10607040" y="3931920"/>
            <a:ext cx="3108600" cy="3108600"/>
          </a:xfrm>
          <a:prstGeom prst="ellipse">
            <a:avLst/>
          </a:prstGeom>
          <a:solidFill>
            <a:srgbClr val="e07a5f">
              <a:alpha val="20000"/>
            </a:srgbClr>
          </a:solidFill>
          <a:ln w="12700">
            <a:solidFill>
              <a:srgbClr val="e07a5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" name="Text 2"/>
          <p:cNvSpPr/>
          <p:nvPr/>
        </p:nvSpPr>
        <p:spPr>
          <a:xfrm>
            <a:off x="640080" y="1828800"/>
            <a:ext cx="64004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299" strike="noStrike">
                <a:solidFill>
                  <a:srgbClr val="e07a5f"/>
                </a:solidFill>
                <a:latin typeface="Calibri"/>
                <a:ea typeface="Calibri"/>
              </a:rPr>
              <a:t>ML PROJECT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" name="Text 3"/>
          <p:cNvSpPr/>
          <p:nvPr/>
        </p:nvSpPr>
        <p:spPr>
          <a:xfrm>
            <a:off x="640080" y="2240280"/>
            <a:ext cx="786348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200" spc="-1" strike="noStrike">
                <a:solidFill>
                  <a:srgbClr val="ffffff"/>
                </a:solidFill>
                <a:latin typeface="Cambria"/>
                <a:ea typeface="Cambria"/>
              </a:rPr>
              <a:t>E-Commerce Purchase Prediction</a:t>
            </a:r>
            <a:endParaRPr b="0" lang="en-US" sz="4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" name="Text 4"/>
          <p:cNvSpPr/>
          <p:nvPr/>
        </p:nvSpPr>
        <p:spPr>
          <a:xfrm>
            <a:off x="640080" y="3611880"/>
            <a:ext cx="74977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cbd5e1"/>
                </a:solidFill>
                <a:latin typeface="Calibri"/>
                <a:ea typeface="Calibri"/>
              </a:rPr>
              <a:t>Predicting transaction value from customer, cart and delivery signals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" name="Shape 5"/>
          <p:cNvSpPr/>
          <p:nvPr/>
        </p:nvSpPr>
        <p:spPr>
          <a:xfrm>
            <a:off x="640080" y="4297680"/>
            <a:ext cx="1005480" cy="27000"/>
          </a:xfrm>
          <a:prstGeom prst="rect">
            <a:avLst/>
          </a:prstGeom>
          <a:solidFill>
            <a:srgbClr val="0f76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17640" bIns="-1764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" name="Text 6"/>
          <p:cNvSpPr/>
          <p:nvPr/>
        </p:nvSpPr>
        <p:spPr>
          <a:xfrm>
            <a:off x="640080" y="452628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94a3b8"/>
                </a:solidFill>
                <a:latin typeface="Calibri"/>
                <a:ea typeface="Calibri"/>
              </a:rPr>
              <a:t>D. Gourisankar Mohanty   |   Regression  ·  Python  ·  Scikit-learn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0"/>
          <p:cNvSpPr/>
          <p:nvPr/>
        </p:nvSpPr>
        <p:spPr>
          <a:xfrm>
            <a:off x="640080" y="411480"/>
            <a:ext cx="108810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200" spc="-1" strike="noStrike">
                <a:solidFill>
                  <a:srgbClr val="1a2b4c"/>
                </a:solidFill>
                <a:latin typeface="Cambria"/>
                <a:ea typeface="Cambria"/>
              </a:rPr>
              <a:t>Why predict transaction value?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Text 1"/>
          <p:cNvSpPr/>
          <p:nvPr/>
        </p:nvSpPr>
        <p:spPr>
          <a:xfrm>
            <a:off x="640080" y="1060560"/>
            <a:ext cx="1088100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Shape 2"/>
          <p:cNvSpPr/>
          <p:nvPr/>
        </p:nvSpPr>
        <p:spPr>
          <a:xfrm>
            <a:off x="640080" y="1691640"/>
            <a:ext cx="6766200" cy="123408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algn="bl" blurRad="127080" dir="5400000" dist="25560" kx="0" ky="0" rotWithShape="0" sx="100000" sy="100000">
              <a:srgbClr val="1a2b4c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Shape 3"/>
          <p:cNvSpPr/>
          <p:nvPr/>
        </p:nvSpPr>
        <p:spPr>
          <a:xfrm>
            <a:off x="914400" y="2057400"/>
            <a:ext cx="502560" cy="502560"/>
          </a:xfrm>
          <a:prstGeom prst="ellipse">
            <a:avLst/>
          </a:prstGeom>
          <a:solidFill>
            <a:srgbClr val="0f76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" name="Text 4"/>
          <p:cNvSpPr/>
          <p:nvPr/>
        </p:nvSpPr>
        <p:spPr>
          <a:xfrm>
            <a:off x="914400" y="2121480"/>
            <a:ext cx="5025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Cambria"/>
                <a:ea typeface="Cambria"/>
              </a:rPr>
              <a:t>1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Text 5"/>
          <p:cNvSpPr/>
          <p:nvPr/>
        </p:nvSpPr>
        <p:spPr>
          <a:xfrm>
            <a:off x="1600200" y="1892880"/>
            <a:ext cx="55774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1a2b4c"/>
                </a:solidFill>
                <a:latin typeface="Cambria"/>
                <a:ea typeface="Cambria"/>
              </a:rPr>
              <a:t>Dynamic discounting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Text 6"/>
          <p:cNvSpPr/>
          <p:nvPr/>
        </p:nvSpPr>
        <p:spPr>
          <a:xfrm>
            <a:off x="1600200" y="2258640"/>
            <a:ext cx="55774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5b6b7f"/>
                </a:solidFill>
                <a:latin typeface="Calibri"/>
                <a:ea typeface="Calibri"/>
              </a:rPr>
              <a:t>Size the discount to the expected basket value instead of applying one flat rate to every customer.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" name="Shape 7"/>
          <p:cNvSpPr/>
          <p:nvPr/>
        </p:nvSpPr>
        <p:spPr>
          <a:xfrm>
            <a:off x="640080" y="3154680"/>
            <a:ext cx="6766200" cy="123408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algn="bl" blurRad="127080" dir="5400000" dist="25560" kx="0" ky="0" rotWithShape="0" sx="100000" sy="100000">
              <a:srgbClr val="1a2b4c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Shape 8"/>
          <p:cNvSpPr/>
          <p:nvPr/>
        </p:nvSpPr>
        <p:spPr>
          <a:xfrm>
            <a:off x="914400" y="3520440"/>
            <a:ext cx="502560" cy="502560"/>
          </a:xfrm>
          <a:prstGeom prst="ellipse">
            <a:avLst/>
          </a:prstGeom>
          <a:solidFill>
            <a:srgbClr val="0f76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" name="Text 9"/>
          <p:cNvSpPr/>
          <p:nvPr/>
        </p:nvSpPr>
        <p:spPr>
          <a:xfrm>
            <a:off x="914400" y="3584520"/>
            <a:ext cx="5025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Cambria"/>
                <a:ea typeface="Cambria"/>
              </a:rPr>
              <a:t>2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Text 10"/>
          <p:cNvSpPr/>
          <p:nvPr/>
        </p:nvSpPr>
        <p:spPr>
          <a:xfrm>
            <a:off x="1600200" y="3355920"/>
            <a:ext cx="55774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1a2b4c"/>
                </a:solidFill>
                <a:latin typeface="Cambria"/>
                <a:ea typeface="Cambria"/>
              </a:rPr>
              <a:t>Logistics cost forecasting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" name="Text 11"/>
          <p:cNvSpPr/>
          <p:nvPr/>
        </p:nvSpPr>
        <p:spPr>
          <a:xfrm>
            <a:off x="1600200" y="3721680"/>
            <a:ext cx="55774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5b6b7f"/>
                </a:solidFill>
                <a:latin typeface="Calibri"/>
                <a:ea typeface="Calibri"/>
              </a:rPr>
              <a:t>Anticipate delivery cost exposure by pairing predicted order value with delivery distance.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Shape 12"/>
          <p:cNvSpPr/>
          <p:nvPr/>
        </p:nvSpPr>
        <p:spPr>
          <a:xfrm>
            <a:off x="640080" y="4617720"/>
            <a:ext cx="6766200" cy="123408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algn="bl" blurRad="127080" dir="5400000" dist="25560" kx="0" ky="0" rotWithShape="0" sx="100000" sy="100000">
              <a:srgbClr val="1a2b4c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Shape 13"/>
          <p:cNvSpPr/>
          <p:nvPr/>
        </p:nvSpPr>
        <p:spPr>
          <a:xfrm>
            <a:off x="914400" y="4983480"/>
            <a:ext cx="502560" cy="502560"/>
          </a:xfrm>
          <a:prstGeom prst="ellipse">
            <a:avLst/>
          </a:prstGeom>
          <a:solidFill>
            <a:srgbClr val="0f76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" name="Text 14"/>
          <p:cNvSpPr/>
          <p:nvPr/>
        </p:nvSpPr>
        <p:spPr>
          <a:xfrm>
            <a:off x="914400" y="5047560"/>
            <a:ext cx="5025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Cambria"/>
                <a:ea typeface="Cambria"/>
              </a:rPr>
              <a:t>3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Text 15"/>
          <p:cNvSpPr/>
          <p:nvPr/>
        </p:nvSpPr>
        <p:spPr>
          <a:xfrm>
            <a:off x="1600200" y="4818960"/>
            <a:ext cx="55774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1a2b4c"/>
                </a:solidFill>
                <a:latin typeface="Cambria"/>
                <a:ea typeface="Cambria"/>
              </a:rPr>
              <a:t>Inventory planning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Text 16"/>
          <p:cNvSpPr/>
          <p:nvPr/>
        </p:nvSpPr>
        <p:spPr>
          <a:xfrm>
            <a:off x="1600200" y="5184720"/>
            <a:ext cx="55774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5b6b7f"/>
                </a:solidFill>
                <a:latin typeface="Calibri"/>
                <a:ea typeface="Calibri"/>
              </a:rPr>
              <a:t>Understand which categories and customer segments carry the highest spend.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Shape 17"/>
          <p:cNvSpPr/>
          <p:nvPr/>
        </p:nvSpPr>
        <p:spPr>
          <a:xfrm>
            <a:off x="7772400" y="1691640"/>
            <a:ext cx="3748680" cy="4343040"/>
          </a:xfrm>
          <a:prstGeom prst="roundRect">
            <a:avLst>
              <a:gd name="adj" fmla="val 1951"/>
            </a:avLst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algn="bl" blurRad="127080" dir="5400000" dist="25560" kx="0" ky="0" rotWithShape="0" sx="100000" sy="100000">
              <a:srgbClr val="1a2b4c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Text 18"/>
          <p:cNvSpPr/>
          <p:nvPr/>
        </p:nvSpPr>
        <p:spPr>
          <a:xfrm>
            <a:off x="8001000" y="1965960"/>
            <a:ext cx="32914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199" strike="noStrike">
                <a:solidFill>
                  <a:srgbClr val="e07a5f"/>
                </a:solidFill>
                <a:latin typeface="Calibri"/>
                <a:ea typeface="Calibri"/>
              </a:rPr>
              <a:t>TARGET VARIABLE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Text 19"/>
          <p:cNvSpPr/>
          <p:nvPr/>
        </p:nvSpPr>
        <p:spPr>
          <a:xfrm>
            <a:off x="8001000" y="2286000"/>
            <a:ext cx="32914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900" spc="-1" strike="noStrike">
                <a:solidFill>
                  <a:srgbClr val="1a2b4c"/>
                </a:solidFill>
                <a:latin typeface="Cambria"/>
                <a:ea typeface="Cambria"/>
              </a:rPr>
              <a:t>Transaction_Amount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Text 20"/>
          <p:cNvSpPr/>
          <p:nvPr/>
        </p:nvSpPr>
        <p:spPr>
          <a:xfrm>
            <a:off x="8001000" y="2743200"/>
            <a:ext cx="32914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5b6b7f"/>
                </a:solidFill>
                <a:latin typeface="Calibri"/>
                <a:ea typeface="Calibri"/>
              </a:rPr>
              <a:t>Continuous value, in currency units — making this a regression problem rather than classification.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Shape 21"/>
          <p:cNvSpPr/>
          <p:nvPr/>
        </p:nvSpPr>
        <p:spPr>
          <a:xfrm>
            <a:off x="8001000" y="3657600"/>
            <a:ext cx="3291840" cy="360"/>
          </a:xfrm>
          <a:prstGeom prst="line">
            <a:avLst/>
          </a:prstGeom>
          <a:ln w="127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Text 22"/>
          <p:cNvSpPr/>
          <p:nvPr/>
        </p:nvSpPr>
        <p:spPr>
          <a:xfrm>
            <a:off x="8001000" y="3822120"/>
            <a:ext cx="3291480" cy="173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1a2b4c"/>
              </a:buClr>
              <a:buFont typeface="Symbol" charset="2"/>
              <a:buChar char=""/>
            </a:pPr>
            <a:r>
              <a:rPr b="0" lang="en-US" sz="1250" spc="-1" strike="noStrike">
                <a:solidFill>
                  <a:srgbClr val="1a2b4c"/>
                </a:solidFill>
                <a:latin typeface="Calibri"/>
                <a:ea typeface="Calibri"/>
              </a:rPr>
              <a:t>11 predictive features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1a2b4c"/>
              </a:buClr>
              <a:buFont typeface="Symbol" charset="2"/>
              <a:buChar char=""/>
            </a:pPr>
            <a:r>
              <a:rPr b="0" lang="en-US" sz="1250" spc="-1" strike="noStrike">
                <a:solidFill>
                  <a:srgbClr val="1a2b4c"/>
                </a:solidFill>
                <a:latin typeface="Calibri"/>
                <a:ea typeface="Calibri"/>
              </a:rPr>
              <a:t>5,055 raw transactions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1a2b4c"/>
              </a:buClr>
              <a:buFont typeface="Symbol" charset="2"/>
              <a:buChar char=""/>
            </a:pPr>
            <a:r>
              <a:rPr b="0" lang="en-US" sz="1250" spc="-1" strike="noStrike">
                <a:solidFill>
                  <a:srgbClr val="1a2b4c"/>
                </a:solidFill>
                <a:latin typeface="Calibri"/>
                <a:ea typeface="Calibri"/>
              </a:rPr>
              <a:t>Customer, cart, delivery and seasonal context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ext 0"/>
          <p:cNvSpPr/>
          <p:nvPr/>
        </p:nvSpPr>
        <p:spPr>
          <a:xfrm>
            <a:off x="640080" y="411480"/>
            <a:ext cx="108810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200" spc="-1" strike="noStrike">
                <a:solidFill>
                  <a:srgbClr val="1a2b4c"/>
                </a:solidFill>
                <a:latin typeface="Cambria"/>
                <a:ea typeface="Cambria"/>
              </a:rPr>
              <a:t>The dataset at a glance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Text 1"/>
          <p:cNvSpPr/>
          <p:nvPr/>
        </p:nvSpPr>
        <p:spPr>
          <a:xfrm>
            <a:off x="640080" y="1060560"/>
            <a:ext cx="1088100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5b6b7f"/>
                </a:solidFill>
                <a:latin typeface="Calibri"/>
                <a:ea typeface="Calibri"/>
              </a:rPr>
              <a:t>A deliberately messy extract — data quality work is part of the brief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Shape 2"/>
          <p:cNvSpPr/>
          <p:nvPr/>
        </p:nvSpPr>
        <p:spPr>
          <a:xfrm>
            <a:off x="640080" y="1645920"/>
            <a:ext cx="2514240" cy="141696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algn="bl" blurRad="127080" dir="5400000" dist="25560" kx="0" ky="0" rotWithShape="0" sx="100000" sy="100000">
              <a:srgbClr val="1a2b4c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" name="Text 3"/>
          <p:cNvSpPr/>
          <p:nvPr/>
        </p:nvSpPr>
        <p:spPr>
          <a:xfrm>
            <a:off x="804600" y="1792080"/>
            <a:ext cx="218520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400" spc="-1" strike="noStrike">
                <a:solidFill>
                  <a:srgbClr val="0f766e"/>
                </a:solidFill>
                <a:latin typeface="Cambria"/>
                <a:ea typeface="Cambria"/>
              </a:rPr>
              <a:t>5,055</a:t>
            </a:r>
            <a:endParaRPr b="0" lang="en-US" sz="3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Text 4"/>
          <p:cNvSpPr/>
          <p:nvPr/>
        </p:nvSpPr>
        <p:spPr>
          <a:xfrm>
            <a:off x="804600" y="2487240"/>
            <a:ext cx="21852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5b6b7f"/>
                </a:solidFill>
                <a:latin typeface="Calibri"/>
                <a:ea typeface="Calibri"/>
              </a:rPr>
              <a:t>Raw transactions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Shape 5"/>
          <p:cNvSpPr/>
          <p:nvPr/>
        </p:nvSpPr>
        <p:spPr>
          <a:xfrm>
            <a:off x="3337560" y="1645920"/>
            <a:ext cx="2514240" cy="141696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algn="bl" blurRad="127080" dir="5400000" dist="25560" kx="0" ky="0" rotWithShape="0" sx="100000" sy="100000">
              <a:srgbClr val="1a2b4c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" name="Text 6"/>
          <p:cNvSpPr/>
          <p:nvPr/>
        </p:nvSpPr>
        <p:spPr>
          <a:xfrm>
            <a:off x="3502080" y="1792080"/>
            <a:ext cx="218520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400" spc="-1" strike="noStrike">
                <a:solidFill>
                  <a:srgbClr val="0f766e"/>
                </a:solidFill>
                <a:latin typeface="Cambria"/>
                <a:ea typeface="Cambria"/>
              </a:rPr>
              <a:t>12</a:t>
            </a:r>
            <a:endParaRPr b="0" lang="en-US" sz="3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Text 7"/>
          <p:cNvSpPr/>
          <p:nvPr/>
        </p:nvSpPr>
        <p:spPr>
          <a:xfrm>
            <a:off x="3502080" y="2487240"/>
            <a:ext cx="21852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5b6b7f"/>
                </a:solidFill>
                <a:latin typeface="Calibri"/>
                <a:ea typeface="Calibri"/>
              </a:rPr>
              <a:t>Columns (11 + target)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" name="Shape 8"/>
          <p:cNvSpPr/>
          <p:nvPr/>
        </p:nvSpPr>
        <p:spPr>
          <a:xfrm>
            <a:off x="6035040" y="1645920"/>
            <a:ext cx="2514240" cy="141696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algn="bl" blurRad="127080" dir="5400000" dist="25560" kx="0" ky="0" rotWithShape="0" sx="100000" sy="100000">
              <a:srgbClr val="1a2b4c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" name="Text 9"/>
          <p:cNvSpPr/>
          <p:nvPr/>
        </p:nvSpPr>
        <p:spPr>
          <a:xfrm>
            <a:off x="6199560" y="1792080"/>
            <a:ext cx="218520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400" spc="-1" strike="noStrike">
                <a:solidFill>
                  <a:srgbClr val="e07a5f"/>
                </a:solidFill>
                <a:latin typeface="Cambria"/>
                <a:ea typeface="Cambria"/>
              </a:rPr>
              <a:t>680</a:t>
            </a:r>
            <a:endParaRPr b="0" lang="en-US" sz="3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" name="Text 10"/>
          <p:cNvSpPr/>
          <p:nvPr/>
        </p:nvSpPr>
        <p:spPr>
          <a:xfrm>
            <a:off x="6199560" y="2487240"/>
            <a:ext cx="21852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5b6b7f"/>
                </a:solidFill>
                <a:latin typeface="Calibri"/>
                <a:ea typeface="Calibri"/>
              </a:rPr>
              <a:t>Missing cells across 6 columns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" name="Shape 11"/>
          <p:cNvSpPr/>
          <p:nvPr/>
        </p:nvSpPr>
        <p:spPr>
          <a:xfrm>
            <a:off x="8732520" y="1645920"/>
            <a:ext cx="2514240" cy="141696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algn="bl" blurRad="127080" dir="5400000" dist="25560" kx="0" ky="0" rotWithShape="0" sx="100000" sy="100000">
              <a:srgbClr val="1a2b4c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Text 12"/>
          <p:cNvSpPr/>
          <p:nvPr/>
        </p:nvSpPr>
        <p:spPr>
          <a:xfrm>
            <a:off x="8897040" y="1792080"/>
            <a:ext cx="218520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400" spc="-1" strike="noStrike">
                <a:solidFill>
                  <a:srgbClr val="0f766e"/>
                </a:solidFill>
                <a:latin typeface="Cambria"/>
                <a:ea typeface="Cambria"/>
              </a:rPr>
              <a:t>19</a:t>
            </a:r>
            <a:endParaRPr b="0" lang="en-US" sz="3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" name="Text 13"/>
          <p:cNvSpPr/>
          <p:nvPr/>
        </p:nvSpPr>
        <p:spPr>
          <a:xfrm>
            <a:off x="8897040" y="2487240"/>
            <a:ext cx="21852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5b6b7f"/>
                </a:solidFill>
                <a:latin typeface="Calibri"/>
                <a:ea typeface="Calibri"/>
              </a:rPr>
              <a:t>Features after engineering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" name="Shape 14"/>
          <p:cNvSpPr/>
          <p:nvPr/>
        </p:nvSpPr>
        <p:spPr>
          <a:xfrm>
            <a:off x="640080" y="3383280"/>
            <a:ext cx="5348880" cy="269712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algn="bl" blurRad="127080" dir="5400000" dist="25560" kx="0" ky="0" rotWithShape="0" sx="100000" sy="100000">
              <a:srgbClr val="1a2b4c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" name="Text 15"/>
          <p:cNvSpPr/>
          <p:nvPr/>
        </p:nvSpPr>
        <p:spPr>
          <a:xfrm>
            <a:off x="914400" y="3611880"/>
            <a:ext cx="47545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1a2b4c"/>
                </a:solidFill>
                <a:latin typeface="Cambria"/>
                <a:ea typeface="Cambria"/>
              </a:rPr>
              <a:t>Numerical features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" name="Text 16"/>
          <p:cNvSpPr/>
          <p:nvPr/>
        </p:nvSpPr>
        <p:spPr>
          <a:xfrm>
            <a:off x="914400" y="4041720"/>
            <a:ext cx="475452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901"/>
              </a:spcAft>
              <a:buClr>
                <a:srgbClr val="5b6b7f"/>
              </a:buClr>
              <a:buFont typeface="Symbol" charset="2"/>
              <a:buChar char=""/>
            </a:pPr>
            <a:r>
              <a:rPr b="0" lang="en-US" sz="1300" spc="-1" strike="noStrike">
                <a:solidFill>
                  <a:srgbClr val="5b6b7f"/>
                </a:solidFill>
                <a:latin typeface="Calibri"/>
                <a:ea typeface="Calibri"/>
              </a:rPr>
              <a:t>Customer_Age  ·  Membership_Years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901"/>
              </a:spcAft>
              <a:buClr>
                <a:srgbClr val="5b6b7f"/>
              </a:buClr>
              <a:buFont typeface="Symbol" charset="2"/>
              <a:buChar char=""/>
            </a:pPr>
            <a:r>
              <a:rPr b="0" lang="en-US" sz="1300" spc="-1" strike="noStrike">
                <a:solidFill>
                  <a:srgbClr val="5b6b7f"/>
                </a:solidFill>
                <a:latin typeface="Calibri"/>
                <a:ea typeface="Calibri"/>
              </a:rPr>
              <a:t>Items_In_Cart  ·  Discount_Pct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901"/>
              </a:spcAft>
              <a:buClr>
                <a:srgbClr val="5b6b7f"/>
              </a:buClr>
              <a:buFont typeface="Symbol" charset="2"/>
              <a:buChar char=""/>
            </a:pPr>
            <a:r>
              <a:rPr b="0" lang="en-US" sz="1300" spc="-1" strike="noStrike">
                <a:solidFill>
                  <a:srgbClr val="5b6b7f"/>
                </a:solidFill>
                <a:latin typeface="Calibri"/>
                <a:ea typeface="Calibri"/>
              </a:rPr>
              <a:t>Delivery_Distance_KM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" name="Shape 17"/>
          <p:cNvSpPr/>
          <p:nvPr/>
        </p:nvSpPr>
        <p:spPr>
          <a:xfrm>
            <a:off x="6172200" y="3383280"/>
            <a:ext cx="5348880" cy="269712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algn="bl" blurRad="127080" dir="5400000" dist="25560" kx="0" ky="0" rotWithShape="0" sx="100000" sy="100000">
              <a:srgbClr val="1a2b4c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Text 18"/>
          <p:cNvSpPr/>
          <p:nvPr/>
        </p:nvSpPr>
        <p:spPr>
          <a:xfrm>
            <a:off x="6446520" y="3611880"/>
            <a:ext cx="47545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1a2b4c"/>
                </a:solidFill>
                <a:latin typeface="Cambria"/>
                <a:ea typeface="Cambria"/>
              </a:rPr>
              <a:t>Categorical features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Text 19"/>
          <p:cNvSpPr/>
          <p:nvPr/>
        </p:nvSpPr>
        <p:spPr>
          <a:xfrm>
            <a:off x="6446520" y="4041720"/>
            <a:ext cx="475452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901"/>
              </a:spcAft>
              <a:buClr>
                <a:srgbClr val="5b6b7f"/>
              </a:buClr>
              <a:buFont typeface="Symbol" charset="2"/>
              <a:buChar char=""/>
            </a:pPr>
            <a:r>
              <a:rPr b="0" lang="en-US" sz="1300" spc="-1" strike="noStrike">
                <a:solidFill>
                  <a:srgbClr val="5b6b7f"/>
                </a:solidFill>
                <a:latin typeface="Calibri"/>
                <a:ea typeface="Calibri"/>
              </a:rPr>
              <a:t>Product_Category  ·  Payment_Method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901"/>
              </a:spcAft>
              <a:buClr>
                <a:srgbClr val="5b6b7f"/>
              </a:buClr>
              <a:buFont typeface="Symbol" charset="2"/>
              <a:buChar char=""/>
            </a:pPr>
            <a:r>
              <a:rPr b="0" lang="en-US" sz="1300" spc="-1" strike="noStrike">
                <a:solidFill>
                  <a:srgbClr val="5b6b7f"/>
                </a:solidFill>
                <a:latin typeface="Calibri"/>
                <a:ea typeface="Calibri"/>
              </a:rPr>
              <a:t>Season  ·  Day_Of_Week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901"/>
              </a:spcAft>
              <a:buClr>
                <a:srgbClr val="5b6b7f"/>
              </a:buClr>
              <a:buFont typeface="Symbol" charset="2"/>
              <a:buChar char=""/>
            </a:pPr>
            <a:r>
              <a:rPr b="0" lang="en-US" sz="1300" spc="-1" strike="noStrike">
                <a:solidFill>
                  <a:srgbClr val="5b6b7f"/>
                </a:solidFill>
                <a:latin typeface="Calibri"/>
                <a:ea typeface="Calibri"/>
              </a:rPr>
              <a:t>Is_Premium_Member (binary)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Text 0"/>
          <p:cNvSpPr/>
          <p:nvPr/>
        </p:nvSpPr>
        <p:spPr>
          <a:xfrm>
            <a:off x="640080" y="411480"/>
            <a:ext cx="108810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200" spc="-1" strike="noStrike">
                <a:solidFill>
                  <a:srgbClr val="1a2b4c"/>
                </a:solidFill>
                <a:latin typeface="Cambria"/>
                <a:ea typeface="Cambria"/>
              </a:rPr>
              <a:t>What the raw data was actually hiding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" name="Text 1"/>
          <p:cNvSpPr/>
          <p:nvPr/>
        </p:nvSpPr>
        <p:spPr>
          <a:xfrm>
            <a:off x="640080" y="1060560"/>
            <a:ext cx="1088100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Shape 2"/>
          <p:cNvSpPr/>
          <p:nvPr/>
        </p:nvSpPr>
        <p:spPr>
          <a:xfrm>
            <a:off x="640080" y="1645920"/>
            <a:ext cx="3520080" cy="201132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algn="bl" blurRad="127080" dir="5400000" dist="25560" kx="0" ky="0" rotWithShape="0" sx="100000" sy="100000">
              <a:srgbClr val="1a2b4c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Text 3"/>
          <p:cNvSpPr/>
          <p:nvPr/>
        </p:nvSpPr>
        <p:spPr>
          <a:xfrm>
            <a:off x="868680" y="1828800"/>
            <a:ext cx="306288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500" spc="-1" strike="noStrike">
                <a:solidFill>
                  <a:srgbClr val="e07a5f"/>
                </a:solidFill>
                <a:latin typeface="Cambria"/>
                <a:ea typeface="Cambria"/>
              </a:rPr>
              <a:t>16 → 4</a:t>
            </a:r>
            <a:endParaRPr b="0" lang="en-US" sz="2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Text 4"/>
          <p:cNvSpPr/>
          <p:nvPr/>
        </p:nvSpPr>
        <p:spPr>
          <a:xfrm>
            <a:off x="868680" y="2304360"/>
            <a:ext cx="30628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1a2b4c"/>
                </a:solidFill>
                <a:latin typeface="Calibri"/>
                <a:ea typeface="Calibri"/>
              </a:rPr>
              <a:t>payment method variants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" name="Text 5"/>
          <p:cNvSpPr/>
          <p:nvPr/>
        </p:nvSpPr>
        <p:spPr>
          <a:xfrm>
            <a:off x="868680" y="2606040"/>
            <a:ext cx="306288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5b6b7f"/>
                </a:solidFill>
                <a:latin typeface="Calibri"/>
                <a:ea typeface="Calibri"/>
              </a:rPr>
              <a:t>'UPI', 'upi', ' Debit card ', 'CREDIT CARD' — case and whitespace collapsed to four real categories.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Shape 6"/>
          <p:cNvSpPr/>
          <p:nvPr/>
        </p:nvSpPr>
        <p:spPr>
          <a:xfrm>
            <a:off x="4361760" y="1645920"/>
            <a:ext cx="3520080" cy="201132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algn="bl" blurRad="127080" dir="5400000" dist="25560" kx="0" ky="0" rotWithShape="0" sx="100000" sy="100000">
              <a:srgbClr val="1a2b4c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Text 7"/>
          <p:cNvSpPr/>
          <p:nvPr/>
        </p:nvSpPr>
        <p:spPr>
          <a:xfrm>
            <a:off x="4590360" y="1828800"/>
            <a:ext cx="306288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500" spc="-1" strike="noStrike">
                <a:solidFill>
                  <a:srgbClr val="e07a5f"/>
                </a:solidFill>
                <a:latin typeface="Cambria"/>
                <a:ea typeface="Cambria"/>
              </a:rPr>
              <a:t>10 → 2</a:t>
            </a:r>
            <a:endParaRPr b="0" lang="en-US" sz="2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Text 8"/>
          <p:cNvSpPr/>
          <p:nvPr/>
        </p:nvSpPr>
        <p:spPr>
          <a:xfrm>
            <a:off x="4590360" y="2304360"/>
            <a:ext cx="30628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1a2b4c"/>
                </a:solidFill>
                <a:latin typeface="Calibri"/>
                <a:ea typeface="Calibri"/>
              </a:rPr>
              <a:t>membership flag variants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" name="Text 9"/>
          <p:cNvSpPr/>
          <p:nvPr/>
        </p:nvSpPr>
        <p:spPr>
          <a:xfrm>
            <a:off x="4590360" y="2606040"/>
            <a:ext cx="306288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5b6b7f"/>
                </a:solidFill>
                <a:latin typeface="Calibri"/>
                <a:ea typeface="Calibri"/>
              </a:rPr>
              <a:t>Beyond case, 'Y' and 'N' shorthand sat alongside 'Yes' and 'No' — a separate encoding, not a case fix.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Shape 10"/>
          <p:cNvSpPr/>
          <p:nvPr/>
        </p:nvSpPr>
        <p:spPr>
          <a:xfrm>
            <a:off x="8083440" y="1645920"/>
            <a:ext cx="3520080" cy="201132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algn="bl" blurRad="127080" dir="5400000" dist="25560" kx="0" ky="0" rotWithShape="0" sx="100000" sy="100000">
              <a:srgbClr val="1a2b4c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Text 11"/>
          <p:cNvSpPr/>
          <p:nvPr/>
        </p:nvSpPr>
        <p:spPr>
          <a:xfrm>
            <a:off x="8312040" y="1828800"/>
            <a:ext cx="306288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500" spc="-1" strike="noStrike">
                <a:solidFill>
                  <a:srgbClr val="e07a5f"/>
                </a:solidFill>
                <a:latin typeface="Cambria"/>
                <a:ea typeface="Cambria"/>
              </a:rPr>
              <a:t>46</a:t>
            </a:r>
            <a:endParaRPr b="0" lang="en-US" sz="2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Text 12"/>
          <p:cNvSpPr/>
          <p:nvPr/>
        </p:nvSpPr>
        <p:spPr>
          <a:xfrm>
            <a:off x="8312040" y="2304360"/>
            <a:ext cx="30628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1a2b4c"/>
                </a:solidFill>
                <a:latin typeface="Calibri"/>
                <a:ea typeface="Calibri"/>
              </a:rPr>
              <a:t>negative delivery distances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Text 13"/>
          <p:cNvSpPr/>
          <p:nvPr/>
        </p:nvSpPr>
        <p:spPr>
          <a:xfrm>
            <a:off x="8312040" y="2606040"/>
            <a:ext cx="306288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5b6b7f"/>
                </a:solidFill>
                <a:latin typeface="Calibri"/>
                <a:ea typeface="Calibri"/>
              </a:rPr>
              <a:t>Physically impossible. Magnitudes matched the legitimate range, so treated as a sign-flip error.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Shape 14"/>
          <p:cNvSpPr/>
          <p:nvPr/>
        </p:nvSpPr>
        <p:spPr>
          <a:xfrm>
            <a:off x="640080" y="3886200"/>
            <a:ext cx="3520080" cy="201132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algn="bl" blurRad="127080" dir="5400000" dist="25560" kx="0" ky="0" rotWithShape="0" sx="100000" sy="100000">
              <a:srgbClr val="1a2b4c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Text 15"/>
          <p:cNvSpPr/>
          <p:nvPr/>
        </p:nvSpPr>
        <p:spPr>
          <a:xfrm>
            <a:off x="868680" y="4069080"/>
            <a:ext cx="306288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500" spc="-1" strike="noStrike">
                <a:solidFill>
                  <a:srgbClr val="e07a5f"/>
                </a:solidFill>
                <a:latin typeface="Cambria"/>
                <a:ea typeface="Cambria"/>
              </a:rPr>
              <a:t>101</a:t>
            </a:r>
            <a:endParaRPr b="0" lang="en-US" sz="2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Text 16"/>
          <p:cNvSpPr/>
          <p:nvPr/>
        </p:nvSpPr>
        <p:spPr>
          <a:xfrm>
            <a:off x="868680" y="4544640"/>
            <a:ext cx="30628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1a2b4c"/>
                </a:solidFill>
                <a:latin typeface="Calibri"/>
                <a:ea typeface="Calibri"/>
              </a:rPr>
              <a:t>discounts stored as text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Text 17"/>
          <p:cNvSpPr/>
          <p:nvPr/>
        </p:nvSpPr>
        <p:spPr>
          <a:xfrm>
            <a:off x="868680" y="4846320"/>
            <a:ext cx="306288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5b6b7f"/>
                </a:solidFill>
                <a:latin typeface="Calibri"/>
                <a:ea typeface="Calibri"/>
              </a:rPr>
              <a:t>Values like '4.8%' mixed with plain numbers, forcing the column to load as a string, not a number.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Shape 18"/>
          <p:cNvSpPr/>
          <p:nvPr/>
        </p:nvSpPr>
        <p:spPr>
          <a:xfrm>
            <a:off x="4361760" y="3886200"/>
            <a:ext cx="3520080" cy="201132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algn="bl" blurRad="127080" dir="5400000" dist="25560" kx="0" ky="0" rotWithShape="0" sx="100000" sy="100000">
              <a:srgbClr val="1a2b4c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Text 19"/>
          <p:cNvSpPr/>
          <p:nvPr/>
        </p:nvSpPr>
        <p:spPr>
          <a:xfrm>
            <a:off x="4590360" y="4069080"/>
            <a:ext cx="306288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500" spc="-1" strike="noStrike">
                <a:solidFill>
                  <a:srgbClr val="e07a5f"/>
                </a:solidFill>
                <a:latin typeface="Cambria"/>
                <a:ea typeface="Cambria"/>
              </a:rPr>
              <a:t>25</a:t>
            </a:r>
            <a:endParaRPr b="0" lang="en-US" sz="2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Text 20"/>
          <p:cNvSpPr/>
          <p:nvPr/>
        </p:nvSpPr>
        <p:spPr>
          <a:xfrm>
            <a:off x="4590360" y="4544640"/>
            <a:ext cx="30628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1a2b4c"/>
                </a:solidFill>
                <a:latin typeface="Calibri"/>
                <a:ea typeface="Calibri"/>
              </a:rPr>
              <a:t>rows missing the target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Text 21"/>
          <p:cNvSpPr/>
          <p:nvPr/>
        </p:nvSpPr>
        <p:spPr>
          <a:xfrm>
            <a:off x="4590360" y="4846320"/>
            <a:ext cx="306288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5b6b7f"/>
                </a:solidFill>
                <a:latin typeface="Calibri"/>
                <a:ea typeface="Calibri"/>
              </a:rPr>
              <a:t>Dropped rather than imputed — imputing a label fabricates ground truth and biases the model.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Shape 22"/>
          <p:cNvSpPr/>
          <p:nvPr/>
        </p:nvSpPr>
        <p:spPr>
          <a:xfrm>
            <a:off x="8083440" y="3886200"/>
            <a:ext cx="3520080" cy="201132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algn="bl" blurRad="127080" dir="5400000" dist="25560" kx="0" ky="0" rotWithShape="0" sx="100000" sy="100000">
              <a:srgbClr val="1a2b4c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Text 23"/>
          <p:cNvSpPr/>
          <p:nvPr/>
        </p:nvSpPr>
        <p:spPr>
          <a:xfrm>
            <a:off x="8312040" y="4069080"/>
            <a:ext cx="306288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500" spc="-1" strike="noStrike">
                <a:solidFill>
                  <a:srgbClr val="e07a5f"/>
                </a:solidFill>
                <a:latin typeface="Cambria"/>
                <a:ea typeface="Cambria"/>
              </a:rPr>
              <a:t>55</a:t>
            </a:r>
            <a:endParaRPr b="0" lang="en-US" sz="2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Text 24"/>
          <p:cNvSpPr/>
          <p:nvPr/>
        </p:nvSpPr>
        <p:spPr>
          <a:xfrm>
            <a:off x="8312040" y="4544640"/>
            <a:ext cx="30628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1a2b4c"/>
                </a:solidFill>
                <a:latin typeface="Calibri"/>
                <a:ea typeface="Calibri"/>
              </a:rPr>
              <a:t>duplicate OrderIDs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Text 25"/>
          <p:cNvSpPr/>
          <p:nvPr/>
        </p:nvSpPr>
        <p:spPr>
          <a:xfrm>
            <a:off x="8312040" y="4846320"/>
            <a:ext cx="306288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5b6b7f"/>
                </a:solidFill>
                <a:latin typeface="Calibri"/>
                <a:ea typeface="Calibri"/>
              </a:rPr>
              <a:t>Same identifier, different row data — flagged and investigated rather than blindly de-duplicated.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Text 0"/>
          <p:cNvSpPr/>
          <p:nvPr/>
        </p:nvSpPr>
        <p:spPr>
          <a:xfrm>
            <a:off x="640080" y="411480"/>
            <a:ext cx="108810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200" spc="-1" strike="noStrike">
                <a:solidFill>
                  <a:srgbClr val="1a2b4c"/>
                </a:solidFill>
                <a:latin typeface="Cambria"/>
                <a:ea typeface="Cambria"/>
              </a:rPr>
              <a:t>The target is severely right-skewed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" name="Text 1"/>
          <p:cNvSpPr/>
          <p:nvPr/>
        </p:nvSpPr>
        <p:spPr>
          <a:xfrm>
            <a:off x="640080" y="1060560"/>
            <a:ext cx="1088100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86" name="Image 0" descr="c1_skew.png"/>
          <p:cNvPicPr/>
          <p:nvPr/>
        </p:nvPicPr>
        <p:blipFill>
          <a:blip r:embed="rId1"/>
          <a:stretch/>
        </p:blipFill>
        <p:spPr>
          <a:xfrm>
            <a:off x="640080" y="1645920"/>
            <a:ext cx="6857640" cy="3986280"/>
          </a:xfrm>
          <a:prstGeom prst="rect">
            <a:avLst/>
          </a:prstGeom>
          <a:ln w="0">
            <a:noFill/>
          </a:ln>
        </p:spPr>
      </p:pic>
      <p:sp>
        <p:nvSpPr>
          <p:cNvPr id="87" name="Shape 2"/>
          <p:cNvSpPr/>
          <p:nvPr/>
        </p:nvSpPr>
        <p:spPr>
          <a:xfrm>
            <a:off x="7772400" y="1645920"/>
            <a:ext cx="3748680" cy="3986280"/>
          </a:xfrm>
          <a:prstGeom prst="roundRect">
            <a:avLst>
              <a:gd name="adj" fmla="val 1951"/>
            </a:avLst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algn="bl" blurRad="127080" dir="5400000" dist="25560" kx="0" ky="0" rotWithShape="0" sx="100000" sy="100000">
              <a:srgbClr val="1a2b4c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" name="Text 3"/>
          <p:cNvSpPr/>
          <p:nvPr/>
        </p:nvSpPr>
        <p:spPr>
          <a:xfrm>
            <a:off x="8028360" y="1874520"/>
            <a:ext cx="3200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148" strike="noStrike">
                <a:solidFill>
                  <a:srgbClr val="5b6b7f"/>
                </a:solidFill>
                <a:latin typeface="Calibri"/>
                <a:ea typeface="Calibri"/>
              </a:rPr>
              <a:t>Skewness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" name="Text 4"/>
          <p:cNvSpPr/>
          <p:nvPr/>
        </p:nvSpPr>
        <p:spPr>
          <a:xfrm>
            <a:off x="8028360" y="2130480"/>
            <a:ext cx="32000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000" spc="-1" strike="noStrike">
                <a:solidFill>
                  <a:srgbClr val="e07a5f"/>
                </a:solidFill>
                <a:latin typeface="Cambria"/>
                <a:ea typeface="Cambria"/>
              </a:rPr>
              <a:t>12.09</a:t>
            </a:r>
            <a:endParaRPr b="0" lang="en-US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" name="Text 5"/>
          <p:cNvSpPr/>
          <p:nvPr/>
        </p:nvSpPr>
        <p:spPr>
          <a:xfrm>
            <a:off x="8028360" y="2834640"/>
            <a:ext cx="32000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5b6b7f"/>
                </a:solidFill>
                <a:latin typeface="Calibri"/>
                <a:ea typeface="Calibri"/>
              </a:rPr>
              <a:t>Anything above 1 counts as highly skewed; above 3 is considered extreme.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" name="Shape 6"/>
          <p:cNvSpPr/>
          <p:nvPr/>
        </p:nvSpPr>
        <p:spPr>
          <a:xfrm>
            <a:off x="8028360" y="3520440"/>
            <a:ext cx="3200400" cy="360"/>
          </a:xfrm>
          <a:prstGeom prst="line">
            <a:avLst/>
          </a:prstGeom>
          <a:ln w="127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" name="Text 7"/>
          <p:cNvSpPr/>
          <p:nvPr/>
        </p:nvSpPr>
        <p:spPr>
          <a:xfrm>
            <a:off x="8028360" y="3703320"/>
            <a:ext cx="16455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5b6b7f"/>
                </a:solidFill>
                <a:latin typeface="Calibri"/>
                <a:ea typeface="Calibri"/>
              </a:rPr>
              <a:t>Median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" name="Text 8"/>
          <p:cNvSpPr/>
          <p:nvPr/>
        </p:nvSpPr>
        <p:spPr>
          <a:xfrm>
            <a:off x="9601200" y="3703320"/>
            <a:ext cx="16272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1a2b4c"/>
                </a:solidFill>
                <a:latin typeface="Cambria"/>
                <a:ea typeface="Cambria"/>
              </a:rPr>
              <a:t>97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" name="Text 9"/>
          <p:cNvSpPr/>
          <p:nvPr/>
        </p:nvSpPr>
        <p:spPr>
          <a:xfrm>
            <a:off x="8028360" y="4270320"/>
            <a:ext cx="16455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5b6b7f"/>
                </a:solidFill>
                <a:latin typeface="Calibri"/>
                <a:ea typeface="Calibri"/>
              </a:rPr>
              <a:t>Mean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" name="Text 10"/>
          <p:cNvSpPr/>
          <p:nvPr/>
        </p:nvSpPr>
        <p:spPr>
          <a:xfrm>
            <a:off x="9601200" y="4270320"/>
            <a:ext cx="16272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1a2b4c"/>
                </a:solidFill>
                <a:latin typeface="Cambria"/>
                <a:ea typeface="Cambria"/>
              </a:rPr>
              <a:t>155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" name="Text 11"/>
          <p:cNvSpPr/>
          <p:nvPr/>
        </p:nvSpPr>
        <p:spPr>
          <a:xfrm>
            <a:off x="8028360" y="4837320"/>
            <a:ext cx="16455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5b6b7f"/>
                </a:solidFill>
                <a:latin typeface="Calibri"/>
                <a:ea typeface="Calibri"/>
              </a:rPr>
              <a:t>Maximum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" name="Text 12"/>
          <p:cNvSpPr/>
          <p:nvPr/>
        </p:nvSpPr>
        <p:spPr>
          <a:xfrm>
            <a:off x="9601200" y="4837320"/>
            <a:ext cx="16272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1a2b4c"/>
                </a:solidFill>
                <a:latin typeface="Cambria"/>
                <a:ea typeface="Cambria"/>
              </a:rPr>
              <a:t>5,349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Text 0"/>
          <p:cNvSpPr/>
          <p:nvPr/>
        </p:nvSpPr>
        <p:spPr>
          <a:xfrm>
            <a:off x="640080" y="411480"/>
            <a:ext cx="108810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200" spc="-1" strike="noStrike">
                <a:solidFill>
                  <a:srgbClr val="1a2b4c"/>
                </a:solidFill>
                <a:latin typeface="Cambria"/>
                <a:ea typeface="Cambria"/>
              </a:rPr>
              <a:t>Where the spend concentrates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9" name="Image 0" descr="c2_box.png"/>
          <p:cNvPicPr/>
          <p:nvPr/>
        </p:nvPicPr>
        <p:blipFill>
          <a:blip r:embed="rId1"/>
          <a:stretch/>
        </p:blipFill>
        <p:spPr>
          <a:xfrm>
            <a:off x="640080" y="1645920"/>
            <a:ext cx="5486040" cy="3200040"/>
          </a:xfrm>
          <a:prstGeom prst="rect">
            <a:avLst/>
          </a:prstGeom>
          <a:ln w="0">
            <a:noFill/>
          </a:ln>
        </p:spPr>
      </p:pic>
      <p:pic>
        <p:nvPicPr>
          <p:cNvPr id="100" name="Image 1" descr="c3_corr.png"/>
          <p:cNvPicPr/>
          <p:nvPr/>
        </p:nvPicPr>
        <p:blipFill>
          <a:blip r:embed="rId2"/>
          <a:stretch/>
        </p:blipFill>
        <p:spPr>
          <a:xfrm>
            <a:off x="6400800" y="1645920"/>
            <a:ext cx="4023000" cy="3200040"/>
          </a:xfrm>
          <a:prstGeom prst="rect">
            <a:avLst/>
          </a:prstGeom>
          <a:ln w="0">
            <a:noFill/>
          </a:ln>
        </p:spPr>
      </p:pic>
      <p:sp>
        <p:nvSpPr>
          <p:cNvPr id="101" name="Shape 2"/>
          <p:cNvSpPr/>
          <p:nvPr/>
        </p:nvSpPr>
        <p:spPr>
          <a:xfrm>
            <a:off x="640080" y="5029200"/>
            <a:ext cx="10881000" cy="114264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algn="bl" blurRad="127080" dir="5400000" dist="25560" kx="0" ky="0" rotWithShape="0" sx="100000" sy="100000">
              <a:srgbClr val="1a2b4c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" name="Text 4"/>
          <p:cNvSpPr/>
          <p:nvPr/>
        </p:nvSpPr>
        <p:spPr>
          <a:xfrm>
            <a:off x="914400" y="5193720"/>
            <a:ext cx="1024092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1a2b4c"/>
                </a:solidFill>
                <a:latin typeface="Calibri"/>
                <a:ea typeface="Calibri"/>
              </a:rPr>
              <a:t>Electronics carries the highest median spend and the widest spread. Among numeric features, Items_In_Cart correlates most strongly with transaction value (r = 0.13) - weak in isolation, which is an early hint that the relationship is non-linear and interaction-driven.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Text 0"/>
          <p:cNvSpPr/>
          <p:nvPr/>
        </p:nvSpPr>
        <p:spPr>
          <a:xfrm>
            <a:off x="640080" y="411480"/>
            <a:ext cx="108810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200" spc="-1" strike="noStrike">
                <a:solidFill>
                  <a:srgbClr val="1a2b4c"/>
                </a:solidFill>
                <a:latin typeface="Cambria"/>
                <a:ea typeface="Cambria"/>
              </a:rPr>
              <a:t>From raw file to model-ready matrix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" name="Text 1"/>
          <p:cNvSpPr/>
          <p:nvPr/>
        </p:nvSpPr>
        <p:spPr>
          <a:xfrm>
            <a:off x="640080" y="1060560"/>
            <a:ext cx="1088100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5b6b7f"/>
                </a:solidFill>
                <a:latin typeface="Calibri"/>
                <a:ea typeface="Calibri"/>
              </a:rPr>
              <a:t>Each decision documented, with the reasoning behind it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Shape 2"/>
          <p:cNvSpPr/>
          <p:nvPr/>
        </p:nvSpPr>
        <p:spPr>
          <a:xfrm>
            <a:off x="640080" y="1645920"/>
            <a:ext cx="5348880" cy="4434480"/>
          </a:xfrm>
          <a:prstGeom prst="roundRect">
            <a:avLst>
              <a:gd name="adj" fmla="val 1649"/>
            </a:avLst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algn="bl" blurRad="127080" dir="5400000" dist="25560" kx="0" ky="0" rotWithShape="0" sx="100000" sy="100000">
              <a:srgbClr val="1a2b4c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" name="Text 3"/>
          <p:cNvSpPr/>
          <p:nvPr/>
        </p:nvSpPr>
        <p:spPr>
          <a:xfrm>
            <a:off x="932760" y="1874520"/>
            <a:ext cx="47545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1a2b4c"/>
                </a:solidFill>
                <a:latin typeface="Cambria"/>
                <a:ea typeface="Cambria"/>
              </a:rPr>
              <a:t>Cleaning decisions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" name="Text 4"/>
          <p:cNvSpPr/>
          <p:nvPr/>
        </p:nvSpPr>
        <p:spPr>
          <a:xfrm>
            <a:off x="932760" y="2377440"/>
            <a:ext cx="4754520" cy="342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1100"/>
              </a:spcAft>
              <a:buClr>
                <a:srgbClr val="5b6b7f"/>
              </a:buClr>
              <a:buFont typeface="Symbol" charset="2"/>
              <a:buChar char=""/>
            </a:pPr>
            <a:r>
              <a:rPr b="0" lang="en-US" sz="1250" spc="-1" strike="noStrike">
                <a:solidFill>
                  <a:srgbClr val="5b6b7f"/>
                </a:solidFill>
                <a:latin typeface="Calibri"/>
                <a:ea typeface="Calibri"/>
              </a:rPr>
              <a:t>Lowercased and stripped categorical text, then mapped Y/N to Yes/No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100"/>
              </a:spcAft>
              <a:buClr>
                <a:srgbClr val="5b6b7f"/>
              </a:buClr>
              <a:buFont typeface="Symbol" charset="2"/>
              <a:buChar char=""/>
            </a:pPr>
            <a:r>
              <a:rPr b="0" lang="en-US" sz="1250" spc="-1" strike="noStrike">
                <a:solidFill>
                  <a:srgbClr val="5b6b7f"/>
                </a:solidFill>
                <a:latin typeface="Calibri"/>
                <a:ea typeface="Calibri"/>
              </a:rPr>
              <a:t>Stripped '%' from Discount_Pct and cast to numeric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100"/>
              </a:spcAft>
              <a:buClr>
                <a:srgbClr val="5b6b7f"/>
              </a:buClr>
              <a:buFont typeface="Symbol" charset="2"/>
              <a:buChar char=""/>
            </a:pPr>
            <a:r>
              <a:rPr b="0" lang="en-US" sz="1250" spc="-1" strike="noStrike">
                <a:solidFill>
                  <a:srgbClr val="5b6b7f"/>
                </a:solidFill>
                <a:latin typeface="Calibri"/>
                <a:ea typeface="Calibri"/>
              </a:rPr>
              <a:t>Flipped negative distances to positive after confirming magnitudes were plausible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100"/>
              </a:spcAft>
              <a:buClr>
                <a:srgbClr val="5b6b7f"/>
              </a:buClr>
              <a:buFont typeface="Symbol" charset="2"/>
              <a:buChar char=""/>
            </a:pPr>
            <a:r>
              <a:rPr b="0" lang="en-US" sz="1250" spc="-1" strike="noStrike">
                <a:solidFill>
                  <a:srgbClr val="5b6b7f"/>
                </a:solidFill>
                <a:latin typeface="Calibri"/>
                <a:ea typeface="Calibri"/>
              </a:rPr>
              <a:t>Dropped 25 rows with a missing target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100"/>
              </a:spcAft>
              <a:buClr>
                <a:srgbClr val="5b6b7f"/>
              </a:buClr>
              <a:buFont typeface="Symbol" charset="2"/>
              <a:buChar char=""/>
            </a:pPr>
            <a:r>
              <a:rPr b="0" lang="en-US" sz="1250" spc="-1" strike="noStrike">
                <a:solidFill>
                  <a:srgbClr val="5b6b7f"/>
                </a:solidFill>
                <a:latin typeface="Calibri"/>
                <a:ea typeface="Calibri"/>
              </a:rPr>
              <a:t>Mean for numeric gaps, mode for categorical gaps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" name="Shape 5"/>
          <p:cNvSpPr/>
          <p:nvPr/>
        </p:nvSpPr>
        <p:spPr>
          <a:xfrm>
            <a:off x="6172200" y="1645920"/>
            <a:ext cx="5348880" cy="4434480"/>
          </a:xfrm>
          <a:prstGeom prst="roundRect">
            <a:avLst>
              <a:gd name="adj" fmla="val 1649"/>
            </a:avLst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algn="bl" blurRad="127080" dir="5400000" dist="25560" kx="0" ky="0" rotWithShape="0" sx="100000" sy="100000">
              <a:srgbClr val="1a2b4c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" name="Text 6"/>
          <p:cNvSpPr/>
          <p:nvPr/>
        </p:nvSpPr>
        <p:spPr>
          <a:xfrm>
            <a:off x="6464880" y="1874520"/>
            <a:ext cx="47545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1a2b4c"/>
                </a:solidFill>
                <a:latin typeface="Cambria"/>
                <a:ea typeface="Cambria"/>
              </a:rPr>
              <a:t>Engineered features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" name="Shape 7"/>
          <p:cNvSpPr/>
          <p:nvPr/>
        </p:nvSpPr>
        <p:spPr>
          <a:xfrm>
            <a:off x="6464880" y="2450520"/>
            <a:ext cx="182520" cy="182520"/>
          </a:xfrm>
          <a:prstGeom prst="ellipse">
            <a:avLst/>
          </a:prstGeom>
          <a:solidFill>
            <a:srgbClr val="0f76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1" name="Text 8"/>
          <p:cNvSpPr/>
          <p:nvPr/>
        </p:nvSpPr>
        <p:spPr>
          <a:xfrm>
            <a:off x="6784920" y="2377440"/>
            <a:ext cx="44344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1a2b4c"/>
                </a:solidFill>
                <a:latin typeface="Calibri"/>
                <a:ea typeface="Calibri"/>
              </a:rPr>
              <a:t>spend_per_item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" name="Text 9"/>
          <p:cNvSpPr/>
          <p:nvPr/>
        </p:nvSpPr>
        <p:spPr>
          <a:xfrm>
            <a:off x="6784920" y="2670120"/>
            <a:ext cx="44344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5b6b7f"/>
                </a:solidFill>
                <a:latin typeface="Calibri"/>
                <a:ea typeface="Calibri"/>
              </a:rPr>
              <a:t>Transaction value divided by cart size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" name="Shape 10"/>
          <p:cNvSpPr/>
          <p:nvPr/>
        </p:nvSpPr>
        <p:spPr>
          <a:xfrm>
            <a:off x="6464880" y="3346560"/>
            <a:ext cx="182520" cy="182520"/>
          </a:xfrm>
          <a:prstGeom prst="ellipse">
            <a:avLst/>
          </a:prstGeom>
          <a:solidFill>
            <a:srgbClr val="0f76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4" name="Text 11"/>
          <p:cNvSpPr/>
          <p:nvPr/>
        </p:nvSpPr>
        <p:spPr>
          <a:xfrm>
            <a:off x="6784920" y="3273480"/>
            <a:ext cx="44344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1a2b4c"/>
                </a:solidFill>
                <a:latin typeface="Calibri"/>
                <a:ea typeface="Calibri"/>
              </a:rPr>
              <a:t>is_weekend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" name="Text 12"/>
          <p:cNvSpPr/>
          <p:nvPr/>
        </p:nvSpPr>
        <p:spPr>
          <a:xfrm>
            <a:off x="6784920" y="3566160"/>
            <a:ext cx="44344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5b6b7f"/>
                </a:solidFill>
                <a:latin typeface="Calibri"/>
                <a:ea typeface="Calibri"/>
              </a:rPr>
              <a:t>Binary flag for Saturday and Sunday orders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" name="Shape 13"/>
          <p:cNvSpPr/>
          <p:nvPr/>
        </p:nvSpPr>
        <p:spPr>
          <a:xfrm>
            <a:off x="6464880" y="4242960"/>
            <a:ext cx="182520" cy="182520"/>
          </a:xfrm>
          <a:prstGeom prst="ellipse">
            <a:avLst/>
          </a:prstGeom>
          <a:solidFill>
            <a:srgbClr val="0f76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7" name="Text 14"/>
          <p:cNvSpPr/>
          <p:nvPr/>
        </p:nvSpPr>
        <p:spPr>
          <a:xfrm>
            <a:off x="6784920" y="4169520"/>
            <a:ext cx="44344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1a2b4c"/>
                </a:solidFill>
                <a:latin typeface="Calibri"/>
                <a:ea typeface="Calibri"/>
              </a:rPr>
              <a:t>loyalty_segment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" name="Text 15"/>
          <p:cNvSpPr/>
          <p:nvPr/>
        </p:nvSpPr>
        <p:spPr>
          <a:xfrm>
            <a:off x="6784920" y="4462200"/>
            <a:ext cx="44344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5b6b7f"/>
                </a:solidFill>
                <a:latin typeface="Calibri"/>
                <a:ea typeface="Calibri"/>
              </a:rPr>
              <a:t>New / Regular / Loyal, label-encoded to preserve order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" name="Shape 16"/>
          <p:cNvSpPr/>
          <p:nvPr/>
        </p:nvSpPr>
        <p:spPr>
          <a:xfrm>
            <a:off x="6464880" y="5139000"/>
            <a:ext cx="182520" cy="182520"/>
          </a:xfrm>
          <a:prstGeom prst="ellipse">
            <a:avLst/>
          </a:prstGeom>
          <a:solidFill>
            <a:srgbClr val="0f76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0" name="Text 17"/>
          <p:cNvSpPr/>
          <p:nvPr/>
        </p:nvSpPr>
        <p:spPr>
          <a:xfrm>
            <a:off x="6784920" y="5065920"/>
            <a:ext cx="44344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1a2b4c"/>
                </a:solidFill>
                <a:latin typeface="Calibri"/>
                <a:ea typeface="Calibri"/>
              </a:rPr>
              <a:t>One-hot encoding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" name="Text 18"/>
          <p:cNvSpPr/>
          <p:nvPr/>
        </p:nvSpPr>
        <p:spPr>
          <a:xfrm>
            <a:off x="6784920" y="5358240"/>
            <a:ext cx="44344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5b6b7f"/>
                </a:solidFill>
                <a:latin typeface="Calibri"/>
                <a:ea typeface="Calibri"/>
              </a:rPr>
              <a:t>Category, payment and season — no clear ranking implied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Text 0"/>
          <p:cNvSpPr/>
          <p:nvPr/>
        </p:nvSpPr>
        <p:spPr>
          <a:xfrm>
            <a:off x="640080" y="411480"/>
            <a:ext cx="108810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200" spc="-1" strike="noStrike">
                <a:solidFill>
                  <a:srgbClr val="1a2b4c"/>
                </a:solidFill>
                <a:latin typeface="Cambria"/>
                <a:ea typeface="Cambria"/>
              </a:rPr>
              <a:t>Random Forest edges ahead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" name="Text 1"/>
          <p:cNvSpPr/>
          <p:nvPr/>
        </p:nvSpPr>
        <p:spPr>
          <a:xfrm>
            <a:off x="640080" y="1060560"/>
            <a:ext cx="1088100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24" name="Image 0" descr="c4c_avp.png"/>
          <p:cNvPicPr/>
          <p:nvPr/>
        </p:nvPicPr>
        <p:blipFill>
          <a:blip r:embed="rId1"/>
          <a:stretch/>
        </p:blipFill>
        <p:spPr>
          <a:xfrm>
            <a:off x="640080" y="1600200"/>
            <a:ext cx="7314840" cy="3236760"/>
          </a:xfrm>
          <a:prstGeom prst="rect">
            <a:avLst/>
          </a:prstGeom>
          <a:ln w="0">
            <a:noFill/>
          </a:ln>
        </p:spPr>
      </p:pic>
      <p:graphicFrame>
        <p:nvGraphicFramePr>
          <p:cNvPr id="125" name="Table 0"/>
          <p:cNvGraphicFramePr/>
          <p:nvPr/>
        </p:nvGraphicFramePr>
        <p:xfrm>
          <a:off x="640080" y="5029200"/>
          <a:ext cx="7406280" cy="1151640"/>
        </p:xfrm>
        <a:graphic>
          <a:graphicData uri="http://schemas.openxmlformats.org/drawingml/2006/table">
            <a:tbl>
              <a:tblPr/>
              <a:tblGrid>
                <a:gridCol w="2468880"/>
                <a:gridCol w="1234440"/>
                <a:gridCol w="1234440"/>
                <a:gridCol w="1234440"/>
                <a:gridCol w="1234440"/>
              </a:tblGrid>
              <a:tr h="38376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20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Model</a:t>
                      </a:r>
                      <a:endParaRPr b="0" lang="en-US" sz="1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e2e8f0"/>
                      </a:solidFill>
                      <a:prstDash val="solid"/>
                    </a:lnL>
                    <a:lnR w="12240">
                      <a:solidFill>
                        <a:srgbClr val="e2e8f0"/>
                      </a:solidFill>
                      <a:prstDash val="solid"/>
                    </a:lnR>
                    <a:lnT w="12240">
                      <a:solidFill>
                        <a:srgbClr val="e2e8f0"/>
                      </a:solidFill>
                      <a:prstDash val="solid"/>
                    </a:lnT>
                    <a:lnB w="12240">
                      <a:solidFill>
                        <a:srgbClr val="e2e8f0"/>
                      </a:solidFill>
                      <a:prstDash val="solid"/>
                    </a:lnB>
                    <a:solidFill>
                      <a:srgbClr val="1a2b4c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20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Train R²</a:t>
                      </a:r>
                      <a:endParaRPr b="0" lang="en-US" sz="1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e2e8f0"/>
                      </a:solidFill>
                      <a:prstDash val="solid"/>
                    </a:lnL>
                    <a:lnR w="12240">
                      <a:solidFill>
                        <a:srgbClr val="e2e8f0"/>
                      </a:solidFill>
                      <a:prstDash val="solid"/>
                    </a:lnR>
                    <a:lnT w="12240">
                      <a:solidFill>
                        <a:srgbClr val="e2e8f0"/>
                      </a:solidFill>
                      <a:prstDash val="solid"/>
                    </a:lnT>
                    <a:lnB w="12240">
                      <a:solidFill>
                        <a:srgbClr val="e2e8f0"/>
                      </a:solidFill>
                      <a:prstDash val="solid"/>
                    </a:lnB>
                    <a:solidFill>
                      <a:srgbClr val="1a2b4c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20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Test R²</a:t>
                      </a:r>
                      <a:endParaRPr b="0" lang="en-US" sz="1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e2e8f0"/>
                      </a:solidFill>
                      <a:prstDash val="solid"/>
                    </a:lnL>
                    <a:lnR w="12240">
                      <a:solidFill>
                        <a:srgbClr val="e2e8f0"/>
                      </a:solidFill>
                      <a:prstDash val="solid"/>
                    </a:lnR>
                    <a:lnT w="12240">
                      <a:solidFill>
                        <a:srgbClr val="e2e8f0"/>
                      </a:solidFill>
                      <a:prstDash val="solid"/>
                    </a:lnT>
                    <a:lnB w="12240">
                      <a:solidFill>
                        <a:srgbClr val="e2e8f0"/>
                      </a:solidFill>
                      <a:prstDash val="solid"/>
                    </a:lnB>
                    <a:solidFill>
                      <a:srgbClr val="1a2b4c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20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MAE</a:t>
                      </a:r>
                      <a:endParaRPr b="0" lang="en-US" sz="1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e2e8f0"/>
                      </a:solidFill>
                      <a:prstDash val="solid"/>
                    </a:lnL>
                    <a:lnR w="12240">
                      <a:solidFill>
                        <a:srgbClr val="e2e8f0"/>
                      </a:solidFill>
                      <a:prstDash val="solid"/>
                    </a:lnR>
                    <a:lnT w="12240">
                      <a:solidFill>
                        <a:srgbClr val="e2e8f0"/>
                      </a:solidFill>
                      <a:prstDash val="solid"/>
                    </a:lnT>
                    <a:lnB w="12240">
                      <a:solidFill>
                        <a:srgbClr val="e2e8f0"/>
                      </a:solidFill>
                      <a:prstDash val="solid"/>
                    </a:lnB>
                    <a:solidFill>
                      <a:srgbClr val="1a2b4c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20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RMSE</a:t>
                      </a:r>
                      <a:endParaRPr b="0" lang="en-US" sz="1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e2e8f0"/>
                      </a:solidFill>
                      <a:prstDash val="solid"/>
                    </a:lnL>
                    <a:lnR w="12240">
                      <a:solidFill>
                        <a:srgbClr val="e2e8f0"/>
                      </a:solidFill>
                      <a:prstDash val="solid"/>
                    </a:lnR>
                    <a:lnT w="12240">
                      <a:solidFill>
                        <a:srgbClr val="e2e8f0"/>
                      </a:solidFill>
                      <a:prstDash val="solid"/>
                    </a:lnT>
                    <a:lnB w="12240">
                      <a:solidFill>
                        <a:srgbClr val="e2e8f0"/>
                      </a:solidFill>
                      <a:prstDash val="solid"/>
                    </a:lnB>
                    <a:solidFill>
                      <a:srgbClr val="1a2b4c"/>
                    </a:solidFill>
                  </a:tcPr>
                </a:tc>
              </a:tr>
              <a:tr h="38376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pc="-1" strike="noStrike">
                          <a:solidFill>
                            <a:srgbClr val="1a2b4c"/>
                          </a:solidFill>
                          <a:latin typeface="Calibri"/>
                          <a:ea typeface="Calibri"/>
                        </a:rPr>
                        <a:t>Linear Regression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e2e8f0"/>
                      </a:solidFill>
                      <a:prstDash val="solid"/>
                    </a:lnL>
                    <a:lnR w="12240">
                      <a:solidFill>
                        <a:srgbClr val="e2e8f0"/>
                      </a:solidFill>
                      <a:prstDash val="solid"/>
                    </a:lnR>
                    <a:lnT w="12240">
                      <a:solidFill>
                        <a:srgbClr val="e2e8f0"/>
                      </a:solidFill>
                      <a:prstDash val="solid"/>
                    </a:lnT>
                    <a:lnB w="12240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pc="-1" strike="noStrike">
                          <a:solidFill>
                            <a:srgbClr val="1a2b4c"/>
                          </a:solidFill>
                          <a:latin typeface="Calibri"/>
                          <a:ea typeface="Calibri"/>
                        </a:rPr>
                        <a:t>0.277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e2e8f0"/>
                      </a:solidFill>
                      <a:prstDash val="solid"/>
                    </a:lnL>
                    <a:lnR w="12240">
                      <a:solidFill>
                        <a:srgbClr val="e2e8f0"/>
                      </a:solidFill>
                      <a:prstDash val="solid"/>
                    </a:lnR>
                    <a:lnT w="12240">
                      <a:solidFill>
                        <a:srgbClr val="e2e8f0"/>
                      </a:solidFill>
                      <a:prstDash val="solid"/>
                    </a:lnT>
                    <a:lnB w="12240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pc="-1" strike="noStrike">
                          <a:solidFill>
                            <a:srgbClr val="1a2b4c"/>
                          </a:solidFill>
                          <a:latin typeface="Calibri"/>
                          <a:ea typeface="Calibri"/>
                        </a:rPr>
                        <a:t>0.322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e2e8f0"/>
                      </a:solidFill>
                      <a:prstDash val="solid"/>
                    </a:lnL>
                    <a:lnR w="12240">
                      <a:solidFill>
                        <a:srgbClr val="e2e8f0"/>
                      </a:solidFill>
                      <a:prstDash val="solid"/>
                    </a:lnR>
                    <a:lnT w="12240">
                      <a:solidFill>
                        <a:srgbClr val="e2e8f0"/>
                      </a:solidFill>
                      <a:prstDash val="solid"/>
                    </a:lnT>
                    <a:lnB w="12240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pc="-1" strike="noStrike">
                          <a:solidFill>
                            <a:srgbClr val="1a2b4c"/>
                          </a:solidFill>
                          <a:latin typeface="Calibri"/>
                          <a:ea typeface="Calibri"/>
                        </a:rPr>
                        <a:t>44.16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e2e8f0"/>
                      </a:solidFill>
                      <a:prstDash val="solid"/>
                    </a:lnL>
                    <a:lnR w="12240">
                      <a:solidFill>
                        <a:srgbClr val="e2e8f0"/>
                      </a:solidFill>
                      <a:prstDash val="solid"/>
                    </a:lnR>
                    <a:lnT w="12240">
                      <a:solidFill>
                        <a:srgbClr val="e2e8f0"/>
                      </a:solidFill>
                      <a:prstDash val="solid"/>
                    </a:lnT>
                    <a:lnB w="12240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pc="-1" strike="noStrike">
                          <a:solidFill>
                            <a:srgbClr val="1a2b4c"/>
                          </a:solidFill>
                          <a:latin typeface="Calibri"/>
                          <a:ea typeface="Calibri"/>
                        </a:rPr>
                        <a:t>166.32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e2e8f0"/>
                      </a:solidFill>
                      <a:prstDash val="solid"/>
                    </a:lnL>
                    <a:lnR w="12240">
                      <a:solidFill>
                        <a:srgbClr val="e2e8f0"/>
                      </a:solidFill>
                      <a:prstDash val="solid"/>
                    </a:lnR>
                    <a:lnT w="12240">
                      <a:solidFill>
                        <a:srgbClr val="e2e8f0"/>
                      </a:solidFill>
                      <a:prstDash val="solid"/>
                    </a:lnT>
                    <a:lnB w="12240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376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200" spc="-1" strike="noStrike">
                          <a:solidFill>
                            <a:srgbClr val="0f766e"/>
                          </a:solidFill>
                          <a:latin typeface="Calibri"/>
                          <a:ea typeface="Calibri"/>
                        </a:rPr>
                        <a:t>Random Forest (tuned)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e2e8f0"/>
                      </a:solidFill>
                      <a:prstDash val="solid"/>
                    </a:lnL>
                    <a:lnR w="12240">
                      <a:solidFill>
                        <a:srgbClr val="e2e8f0"/>
                      </a:solidFill>
                      <a:prstDash val="solid"/>
                    </a:lnR>
                    <a:lnT w="12240">
                      <a:solidFill>
                        <a:srgbClr val="e2e8f0"/>
                      </a:solidFill>
                      <a:prstDash val="solid"/>
                    </a:lnT>
                    <a:lnB w="12240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200" spc="-1" strike="noStrike">
                          <a:solidFill>
                            <a:srgbClr val="0f766e"/>
                          </a:solidFill>
                          <a:latin typeface="Calibri"/>
                          <a:ea typeface="Calibri"/>
                        </a:rPr>
                        <a:t>0.378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e2e8f0"/>
                      </a:solidFill>
                      <a:prstDash val="solid"/>
                    </a:lnL>
                    <a:lnR w="12240">
                      <a:solidFill>
                        <a:srgbClr val="e2e8f0"/>
                      </a:solidFill>
                      <a:prstDash val="solid"/>
                    </a:lnR>
                    <a:lnT w="12240">
                      <a:solidFill>
                        <a:srgbClr val="e2e8f0"/>
                      </a:solidFill>
                      <a:prstDash val="solid"/>
                    </a:lnT>
                    <a:lnB w="12240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200" spc="-1" strike="noStrike">
                          <a:solidFill>
                            <a:srgbClr val="0f766e"/>
                          </a:solidFill>
                          <a:latin typeface="Calibri"/>
                          <a:ea typeface="Calibri"/>
                        </a:rPr>
                        <a:t>0.316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e2e8f0"/>
                      </a:solidFill>
                      <a:prstDash val="solid"/>
                    </a:lnL>
                    <a:lnR w="12240">
                      <a:solidFill>
                        <a:srgbClr val="e2e8f0"/>
                      </a:solidFill>
                      <a:prstDash val="solid"/>
                    </a:lnR>
                    <a:lnT w="12240">
                      <a:solidFill>
                        <a:srgbClr val="e2e8f0"/>
                      </a:solidFill>
                      <a:prstDash val="solid"/>
                    </a:lnT>
                    <a:lnB w="12240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200" spc="-1" strike="noStrike">
                          <a:solidFill>
                            <a:srgbClr val="0f766e"/>
                          </a:solidFill>
                          <a:latin typeface="Calibri"/>
                          <a:ea typeface="Calibri"/>
                        </a:rPr>
                        <a:t>39.19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e2e8f0"/>
                      </a:solidFill>
                      <a:prstDash val="solid"/>
                    </a:lnL>
                    <a:lnR w="12240">
                      <a:solidFill>
                        <a:srgbClr val="e2e8f0"/>
                      </a:solidFill>
                      <a:prstDash val="solid"/>
                    </a:lnR>
                    <a:lnT w="12240">
                      <a:solidFill>
                        <a:srgbClr val="e2e8f0"/>
                      </a:solidFill>
                      <a:prstDash val="solid"/>
                    </a:lnT>
                    <a:lnB w="12240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200" spc="-1" strike="noStrike">
                          <a:solidFill>
                            <a:srgbClr val="0f766e"/>
                          </a:solidFill>
                          <a:latin typeface="Calibri"/>
                          <a:ea typeface="Calibri"/>
                        </a:rPr>
                        <a:t>167.07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e2e8f0"/>
                      </a:solidFill>
                      <a:prstDash val="solid"/>
                    </a:lnL>
                    <a:lnR w="12240">
                      <a:solidFill>
                        <a:srgbClr val="e2e8f0"/>
                      </a:solidFill>
                      <a:prstDash val="solid"/>
                    </a:lnR>
                    <a:lnT w="12240">
                      <a:solidFill>
                        <a:srgbClr val="e2e8f0"/>
                      </a:solidFill>
                      <a:prstDash val="solid"/>
                    </a:lnT>
                    <a:lnB w="12240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6" name="Shape 2"/>
          <p:cNvSpPr/>
          <p:nvPr/>
        </p:nvSpPr>
        <p:spPr>
          <a:xfrm>
            <a:off x="8229600" y="1600200"/>
            <a:ext cx="3291480" cy="448020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algn="bl" blurRad="127080" dir="5400000" dist="25560" kx="0" ky="0" rotWithShape="0" sx="100000" sy="100000">
              <a:srgbClr val="1a2b4c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" name="Text 3"/>
          <p:cNvSpPr/>
          <p:nvPr/>
        </p:nvSpPr>
        <p:spPr>
          <a:xfrm>
            <a:off x="8458200" y="1828800"/>
            <a:ext cx="2834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148" strike="noStrike">
                <a:solidFill>
                  <a:srgbClr val="5b6b7f"/>
                </a:solidFill>
                <a:latin typeface="Calibri"/>
                <a:ea typeface="Calibri"/>
              </a:rPr>
              <a:t>Error reduction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" name="Text 4"/>
          <p:cNvSpPr/>
          <p:nvPr/>
        </p:nvSpPr>
        <p:spPr>
          <a:xfrm>
            <a:off x="8458200" y="2103120"/>
            <a:ext cx="283428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" name="Text 5"/>
          <p:cNvSpPr/>
          <p:nvPr/>
        </p:nvSpPr>
        <p:spPr>
          <a:xfrm>
            <a:off x="8458200" y="2057400"/>
            <a:ext cx="28342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5b6b7f"/>
                </a:solidFill>
                <a:latin typeface="Calibri"/>
                <a:ea typeface="Calibri"/>
              </a:rPr>
              <a:t>Random Forest has a lower average error (MAE) than Linear Regression.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" name="Text 7"/>
          <p:cNvSpPr/>
          <p:nvPr/>
        </p:nvSpPr>
        <p:spPr>
          <a:xfrm>
            <a:off x="8458200" y="2971800"/>
            <a:ext cx="283428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148" strike="noStrike">
                <a:solidFill>
                  <a:srgbClr val="5b6b7f"/>
                </a:solidFill>
                <a:latin typeface="Calibri"/>
                <a:ea typeface="Calibri"/>
              </a:rPr>
              <a:t>Overfitting check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" name="Text 8"/>
          <p:cNvSpPr/>
          <p:nvPr/>
        </p:nvSpPr>
        <p:spPr>
          <a:xfrm>
            <a:off x="8458200" y="3429000"/>
            <a:ext cx="283428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1a2b4c"/>
                </a:solidFill>
                <a:latin typeface="Calibri"/>
                <a:ea typeface="Calibri"/>
              </a:rPr>
              <a:t>For both the models, train-test gap is not high, a healthy, small gap.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" name="Text 9"/>
          <p:cNvSpPr/>
          <p:nvPr/>
        </p:nvSpPr>
        <p:spPr>
          <a:xfrm>
            <a:off x="8458200" y="4572000"/>
            <a:ext cx="2834280" cy="114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50" spc="-1" strike="noStrike">
                <a:solidFill>
                  <a:srgbClr val="5b6b7f"/>
                </a:solidFill>
                <a:latin typeface="Calibri"/>
                <a:ea typeface="Calibri"/>
              </a:rPr>
              <a:t>R² and RMSE are essentially tied between the two models; MAE is where Random Forest pulls ahead.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2b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Shape 4"/>
          <p:cNvSpPr/>
          <p:nvPr/>
        </p:nvSpPr>
        <p:spPr>
          <a:xfrm>
            <a:off x="10332720" y="4572000"/>
            <a:ext cx="3840120" cy="3840120"/>
          </a:xfrm>
          <a:prstGeom prst="ellipse">
            <a:avLst/>
          </a:prstGeom>
          <a:solidFill>
            <a:srgbClr val="0f766e">
              <a:alpha val="22000"/>
            </a:srgbClr>
          </a:solidFill>
          <a:ln w="12700">
            <a:solidFill>
              <a:srgbClr val="0f766e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4" name="Text 26"/>
          <p:cNvSpPr/>
          <p:nvPr/>
        </p:nvSpPr>
        <p:spPr>
          <a:xfrm>
            <a:off x="640080" y="457200"/>
            <a:ext cx="73148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200" spc="-1" strike="noStrike">
                <a:solidFill>
                  <a:srgbClr val="ffffff"/>
                </a:solidFill>
                <a:latin typeface="Cambria"/>
                <a:ea typeface="Cambria"/>
              </a:rPr>
              <a:t>Recommendation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5" name="Text 27"/>
          <p:cNvSpPr/>
          <p:nvPr/>
        </p:nvSpPr>
        <p:spPr>
          <a:xfrm>
            <a:off x="640080" y="1097280"/>
            <a:ext cx="91436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9fe0d6"/>
                </a:solidFill>
                <a:latin typeface="Calibri"/>
                <a:ea typeface="Calibri"/>
              </a:rPr>
              <a:t>Deploy Random Forest Regressor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6" name="Shape 9"/>
          <p:cNvSpPr/>
          <p:nvPr/>
        </p:nvSpPr>
        <p:spPr>
          <a:xfrm>
            <a:off x="640080" y="1783080"/>
            <a:ext cx="10881000" cy="1965600"/>
          </a:xfrm>
          <a:prstGeom prst="roundRect">
            <a:avLst>
              <a:gd name="adj" fmla="val 3721"/>
            </a:avLst>
          </a:prstGeom>
          <a:solidFill>
            <a:srgbClr val="24375e"/>
          </a:solidFill>
          <a:ln w="12700">
            <a:solidFill>
              <a:srgbClr val="34496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7" name="Text 28"/>
          <p:cNvSpPr/>
          <p:nvPr/>
        </p:nvSpPr>
        <p:spPr>
          <a:xfrm>
            <a:off x="1005840" y="1965960"/>
            <a:ext cx="101494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199" strike="noStrike">
                <a:solidFill>
                  <a:srgbClr val="9fe0d6"/>
                </a:solidFill>
                <a:latin typeface="Calibri"/>
                <a:ea typeface="Calibri"/>
              </a:rPr>
              <a:t>Why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8" name="Text 29"/>
          <p:cNvSpPr/>
          <p:nvPr/>
        </p:nvSpPr>
        <p:spPr>
          <a:xfrm>
            <a:off x="1005840" y="2304360"/>
            <a:ext cx="1014948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e2e8f0"/>
                </a:solidFill>
                <a:latin typeface="Calibri"/>
                <a:ea typeface="Calibri"/>
              </a:rPr>
              <a:t>As we can see, both models have almost the same R² value and almost the same RMSE value, this is because both metrics are sensitive to </a:t>
            </a:r>
            <a:r>
              <a:rPr b="0" lang="en-US" sz="1300" spc="-1" strike="noStrike">
                <a:solidFill>
                  <a:srgbClr val="e2e8f0"/>
                </a:solidFill>
                <a:latin typeface="Calibri"/>
                <a:ea typeface="Calibri"/>
              </a:rPr>
              <a:t>outliers, and we have some very extreme outliers in this dataset. The noticeable difference shows up in MAE (Mean Absolute Error), where </a:t>
            </a:r>
            <a:r>
              <a:rPr b="0" lang="en-US" sz="1300" spc="-1" strike="noStrike">
                <a:solidFill>
                  <a:srgbClr val="e2e8f0"/>
                </a:solidFill>
                <a:latin typeface="Calibri"/>
                <a:ea typeface="Calibri"/>
              </a:rPr>
              <a:t>Random Forest gives a lower error. This is because MAE is less dominated by extreme outliers, so it gives a more reliable measure of how the </a:t>
            </a:r>
            <a:r>
              <a:rPr b="0" lang="en-US" sz="1300" spc="-1" strike="noStrike">
                <a:solidFill>
                  <a:srgbClr val="e2e8f0"/>
                </a:solidFill>
                <a:latin typeface="Calibri"/>
                <a:ea typeface="Calibri"/>
              </a:rPr>
              <a:t>model performs on a typical transaction. This is why we should go with the Random Forest Regressor for this dataset.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90</TotalTime>
  <Application>LibreOffice/24.2.7.2$Linux_X86_64 LibreOffice_project/420$Build-2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2026-09-20T14:02:51Z</dcterms:created>
  <dc:creator>D. Gourisankar Mohanty</dc:creator>
  <dc:description/>
  <dc:language>en-US</dc:language>
  <cp:lastModifiedBy/>
  <dcterms:modified xsi:type="dcterms:W3CDTF">2026-09-21T13:53:25Z</dcterms:modified>
  <cp:revision>2</cp:revision>
  <dc:subject>PptxGenJS Presentation</dc:subject>
  <dc:title>E-Commerce Purchase Prediction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10</vt:i4>
  </property>
  <property fmtid="{D5CDD505-2E9C-101B-9397-08002B2CF9AE}" pid="3" name="PresentationFormat">
    <vt:lpwstr>On-screen Show (16:9)</vt:lpwstr>
  </property>
  <property fmtid="{D5CDD505-2E9C-101B-9397-08002B2CF9AE}" pid="4" name="Slides">
    <vt:i4>10</vt:i4>
  </property>
</Properties>
</file>